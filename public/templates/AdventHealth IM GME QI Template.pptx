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Poppins" pitchFamily="2" charset="77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285C504-2328-4567-BA50-C2D87D200ADD}">
  <a:tblStyle styleId="{2285C504-2328-4567-BA50-C2D87D200AD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4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878460"/>
            <a:ext cx="51435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878460"/>
            <a:ext cx="514350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495300" y="1207740"/>
            <a:ext cx="11201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84BD00"/>
                </a:solidFill>
                <a:latin typeface="Poppins"/>
                <a:ea typeface="Poppins"/>
                <a:cs typeface="Poppins"/>
                <a:sym typeface="Poppins"/>
              </a:rPr>
              <a:t>QUALITY IMPROVEMENT PROJECT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95300" y="1579215"/>
            <a:ext cx="1120140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[Study / Project Title]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2687835"/>
            <a:ext cx="10668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AdventHealth IM Graduate Medical Education — Tampa, FL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104900" y="4364235"/>
            <a:ext cx="45148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Principal Investigator:</a:t>
            </a: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[Resident Name]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104900" y="4864298"/>
            <a:ext cx="45148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Co-Investigators:</a:t>
            </a: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[Names / Residents]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629400" y="4364235"/>
            <a:ext cx="45148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Faculty Mentor:</a:t>
            </a: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[Attending Name]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629400" y="4864298"/>
            <a:ext cx="45148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Clinical Site:</a:t>
            </a: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[Site / Setting]</a:t>
            </a:r>
            <a:endParaRPr/>
          </a:p>
        </p:txBody>
      </p:sp>
      <p:pic>
        <p:nvPicPr>
          <p:cNvPr id="94" name="Google Shape;94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56675" y="189650"/>
            <a:ext cx="678500" cy="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416968"/>
            <a:ext cx="5143500" cy="2928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416968"/>
            <a:ext cx="5143500" cy="292893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1. PROJECT OVERVIEW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762000" y="571500"/>
            <a:ext cx="95250" cy="571500"/>
          </a:xfrm>
          <a:prstGeom prst="rect">
            <a:avLst/>
          </a:prstGeom>
          <a:solidFill>
            <a:srgbClr val="84B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47750" y="3359943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47750" y="3817143"/>
            <a:ext cx="4572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Briefly summarize the problem (1-2 sentences). What is the specific clinical gap or safety issue?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47750" y="4560093"/>
            <a:ext cx="45720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[Insert Text Here]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72250" y="3359943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Intervention Summary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572250" y="3817143"/>
            <a:ext cx="4572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Summarize the proposed change or intervention step. What are you doing to fix the problem?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572250" y="4560093"/>
            <a:ext cx="45720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[Insert Text Here]</a:t>
            </a:r>
            <a:endParaRPr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7750" y="279796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72250" y="2797968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56675" y="189650"/>
            <a:ext cx="678500" cy="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476375"/>
            <a:ext cx="10668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AIM STATEMENT (SMART)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762000" y="571500"/>
            <a:ext cx="95250" cy="571500"/>
          </a:xfrm>
          <a:prstGeom prst="rect">
            <a:avLst/>
          </a:prstGeom>
          <a:solidFill>
            <a:srgbClr val="84B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1238250" y="2190750"/>
            <a:ext cx="97155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Use SMART: Specific, Measurable, Achievable, Relevant, Time-bound. Specify Who, What, Where, Baseline, and Target.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238250" y="2652712"/>
            <a:ext cx="10201275" cy="141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"To [Increase/Decrease] [Primary Outcome] from [Baseline] to [Target] by [Date] for [Target Population] at [Setting]."</a:t>
            </a:r>
            <a:endParaRPr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56675" y="189650"/>
            <a:ext cx="678500" cy="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717006"/>
            <a:ext cx="5143500" cy="232886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2. BACKGROUND &amp; RATIONALE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762000" y="571500"/>
            <a:ext cx="95250" cy="571500"/>
          </a:xfrm>
          <a:prstGeom prst="rect">
            <a:avLst/>
          </a:prstGeom>
          <a:solidFill>
            <a:srgbClr val="84B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762000" y="2717006"/>
            <a:ext cx="5400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Clinical Significance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62000" y="3174206"/>
            <a:ext cx="51435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Describe why this matters. Address patient outcomes, safety, experience, or cost efficiency.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572250" y="3059906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Current Local Status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572250" y="3517106"/>
            <a:ext cx="4572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Summarize current baseline data at your site. What is happening right now before the change?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572250" y="4260056"/>
            <a:ext cx="45720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[Insert Local Context]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28700" y="38957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143000" y="3898106"/>
            <a:ext cx="47625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[Impact point 1]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028700" y="419576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143000" y="4198143"/>
            <a:ext cx="47625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[Impact point 2]</a:t>
            </a:r>
            <a:endParaRPr/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56675" y="189650"/>
            <a:ext cx="678500" cy="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476375"/>
            <a:ext cx="10668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000500"/>
            <a:ext cx="10668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EVIDENCE &amp; SUPPORTING CHANGE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762000" y="571500"/>
            <a:ext cx="95250" cy="571500"/>
          </a:xfrm>
          <a:prstGeom prst="rect">
            <a:avLst/>
          </a:prstGeom>
          <a:solidFill>
            <a:srgbClr val="84B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1047750" y="1819275"/>
            <a:ext cx="106013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Literature Summary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047750" y="2276475"/>
            <a:ext cx="100965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Summarize key studies/guidelines. Number references in the order cited (start at 1).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047750" y="2747962"/>
            <a:ext cx="100965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[Insert Evidence Summary Here]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047750" y="4343400"/>
            <a:ext cx="106013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Evidence Gaps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047750" y="4800600"/>
            <a:ext cx="100965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Specify reasons prior efforts did not work or what knowledge is missing locally.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047750" y="5272087"/>
            <a:ext cx="100965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[Insert Analysis Here]</a:t>
            </a:r>
            <a:endParaRPr/>
          </a:p>
        </p:txBody>
      </p:sp>
      <p:pic>
        <p:nvPicPr>
          <p:cNvPr id="157" name="Google Shape;15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56675" y="189650"/>
            <a:ext cx="678500" cy="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3. STUDY OUTCOMES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762000" y="571500"/>
            <a:ext cx="95250" cy="571500"/>
          </a:xfrm>
          <a:prstGeom prst="rect">
            <a:avLst/>
          </a:prstGeom>
          <a:solidFill>
            <a:srgbClr val="84B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5" name="Google Shape;165;p18"/>
          <p:cNvGraphicFramePr/>
          <p:nvPr/>
        </p:nvGraphicFramePr>
        <p:xfrm>
          <a:off x="762000" y="271938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{2285C504-2328-4567-BA50-C2D87D200ADD}</a:tableStyleId>
              </a:tblPr>
              <a:tblGrid>
                <a:gridCol w="27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9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2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Outcome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C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Operationalization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C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Source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C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Target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C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Primary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[Measure Definition]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[Epic / Survey]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[Goal %]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Secondary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[Measure Definition]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[Epic / Survey]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[Goal %]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6" name="Google Shape;166;p18"/>
          <p:cNvSpPr txBox="1"/>
          <p:nvPr/>
        </p:nvSpPr>
        <p:spPr>
          <a:xfrm>
            <a:off x="762000" y="4686300"/>
            <a:ext cx="10668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Operationalization: How exactly is the data captured? (e.g., % of charts with specific smartphrase).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762000" y="3886200"/>
            <a:ext cx="27240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3486001" y="3886200"/>
            <a:ext cx="35885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7074544" y="3886200"/>
            <a:ext cx="26260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9700617" y="3886200"/>
            <a:ext cx="17293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762000" y="4481512"/>
            <a:ext cx="272400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3486001" y="4481512"/>
            <a:ext cx="35885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7074544" y="4481512"/>
            <a:ext cx="26260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9700617" y="4481512"/>
            <a:ext cx="17293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09075" y="342050"/>
            <a:ext cx="678500" cy="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52700"/>
            <a:ext cx="5143500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52700"/>
            <a:ext cx="5143500" cy="26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4. METHODS: QI DESIGN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762000" y="571500"/>
            <a:ext cx="95250" cy="571500"/>
          </a:xfrm>
          <a:prstGeom prst="rect">
            <a:avLst/>
          </a:prstGeom>
          <a:solidFill>
            <a:srgbClr val="84B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1047750" y="3495675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Design Choice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1047750" y="3952875"/>
            <a:ext cx="4572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Select one: PDSA, Lean, Six Sigma, or Other.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1047750" y="4424362"/>
            <a:ext cx="45720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Framework:</a:t>
            </a: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[Selected Design]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572250" y="2895600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Description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572250" y="3352800"/>
            <a:ext cx="4572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Briefly explain why this fits your project.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572250" y="3824287"/>
            <a:ext cx="45720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[Insert Brief Description]</a:t>
            </a:r>
            <a:endParaRPr/>
          </a:p>
        </p:txBody>
      </p:sp>
      <p:pic>
        <p:nvPicPr>
          <p:cNvPr id="191" name="Google Shape;19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7750" y="293370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956675" y="189650"/>
            <a:ext cx="678500" cy="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736056"/>
            <a:ext cx="3365450" cy="229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736056"/>
            <a:ext cx="3365450" cy="229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736056"/>
            <a:ext cx="3365599" cy="229076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4.2 SETTING &amp; POPULATION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762000" y="571500"/>
            <a:ext cx="95250" cy="571500"/>
          </a:xfrm>
          <a:prstGeom prst="rect">
            <a:avLst/>
          </a:prstGeom>
          <a:solidFill>
            <a:srgbClr val="84B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047750" y="3078956"/>
            <a:ext cx="293364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Setting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047750" y="3498056"/>
            <a:ext cx="27939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Clinic / Unit / Service area.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047750" y="3969543"/>
            <a:ext cx="27939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[Insert Detail]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4698950" y="3078956"/>
            <a:ext cx="293364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Population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4698950" y="3498056"/>
            <a:ext cx="27939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Who is affected? Stakeholders.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4698950" y="3969543"/>
            <a:ext cx="27939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[Insert Detail]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8350150" y="3078956"/>
            <a:ext cx="293380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Timeframes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8350150" y="3498056"/>
            <a:ext cx="2794099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Baseline and Post-intervention dates.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8350150" y="4241006"/>
            <a:ext cx="2794099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[Insert Detail]</a:t>
            </a:r>
            <a:endParaRPr/>
          </a:p>
        </p:txBody>
      </p:sp>
      <p:pic>
        <p:nvPicPr>
          <p:cNvPr id="212" name="Google Shape;212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956675" y="189650"/>
            <a:ext cx="678500" cy="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76562"/>
            <a:ext cx="514350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976562"/>
            <a:ext cx="5143500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INCLUSION &amp; EXCLUSION</a:t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762000" y="571500"/>
            <a:ext cx="95250" cy="571500"/>
          </a:xfrm>
          <a:prstGeom prst="rect">
            <a:avLst/>
          </a:prstGeom>
          <a:solidFill>
            <a:srgbClr val="84B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1047750" y="3319462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Inclusion Criteria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572250" y="3319462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Exclusion Criteria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1314450" y="374570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428750" y="3748087"/>
            <a:ext cx="41910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[Criteria 1]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314450" y="4045743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1428750" y="4048125"/>
            <a:ext cx="41910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[Criteria 2]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6838950" y="3745706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953250" y="3748087"/>
            <a:ext cx="41910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[Criteria 1]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6838950" y="4045743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953250" y="4048125"/>
            <a:ext cx="41910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[Criteria 2]</a:t>
            </a:r>
            <a:endParaRPr/>
          </a:p>
        </p:txBody>
      </p:sp>
      <p:pic>
        <p:nvPicPr>
          <p:cNvPr id="232" name="Google Shape;23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56675" y="189650"/>
            <a:ext cx="678500" cy="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71750"/>
            <a:ext cx="336545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571750"/>
            <a:ext cx="336545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571750"/>
            <a:ext cx="3365599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4.3 INTERVENTIONS DETAIL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762000" y="571500"/>
            <a:ext cx="95250" cy="571500"/>
          </a:xfrm>
          <a:prstGeom prst="rect">
            <a:avLst/>
          </a:prstGeom>
          <a:solidFill>
            <a:srgbClr val="84B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1047750" y="3514725"/>
            <a:ext cx="293364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Education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1047750" y="3933825"/>
            <a:ext cx="27939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Scripts, handouts, huddles.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1047750" y="4405312"/>
            <a:ext cx="27939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[Insert Details]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4698950" y="3514725"/>
            <a:ext cx="293364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EMR Tools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4698950" y="3933825"/>
            <a:ext cx="279395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Smart phrases, order sets.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4698950" y="4405312"/>
            <a:ext cx="279395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[Insert Details]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8350150" y="3514725"/>
            <a:ext cx="293380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Workflow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8350150" y="3933825"/>
            <a:ext cx="2794099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New checklists or processes.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8350150" y="4405312"/>
            <a:ext cx="2794099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[Insert Details]</a:t>
            </a:r>
            <a:endParaRPr/>
          </a:p>
        </p:txBody>
      </p:sp>
      <p:pic>
        <p:nvPicPr>
          <p:cNvPr id="252" name="Google Shape;25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7750" y="29527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8950" y="29527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0150" y="29527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956675" y="189650"/>
            <a:ext cx="678500" cy="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4.4 PDSA CYCLES ROADMAP</a:t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762000" y="571500"/>
            <a:ext cx="95250" cy="571500"/>
          </a:xfrm>
          <a:prstGeom prst="rect">
            <a:avLst/>
          </a:prstGeom>
          <a:solidFill>
            <a:srgbClr val="84B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3" name="Google Shape;263;p23"/>
          <p:cNvGraphicFramePr/>
          <p:nvPr/>
        </p:nvGraphicFramePr>
        <p:xfrm>
          <a:off x="762000" y="271938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{2285C504-2328-4567-BA50-C2D87D200ADD}</a:tableStyleId>
              </a:tblPr>
              <a:tblGrid>
                <a:gridCol w="161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8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7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2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Cycle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C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Plan (Change)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C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Do (Where)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C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Study (Data)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C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 (Next)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C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PDSA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[Text]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[Text]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[Text]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[Text]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PDSA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[Text]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[Text]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[Text]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[Text]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4" name="Google Shape;264;p23"/>
          <p:cNvSpPr txBox="1"/>
          <p:nvPr/>
        </p:nvSpPr>
        <p:spPr>
          <a:xfrm>
            <a:off x="762000" y="4686300"/>
            <a:ext cx="10668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Provide enough detail for replication of the change cycle.</a:t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762000" y="3886200"/>
            <a:ext cx="1610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2372469" y="3886200"/>
            <a:ext cx="25354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4907905" y="3886200"/>
            <a:ext cx="22164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7124402" y="3886200"/>
            <a:ext cx="23281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9452520" y="3886200"/>
            <a:ext cx="19774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762000" y="4481512"/>
            <a:ext cx="16104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2372469" y="4481512"/>
            <a:ext cx="25354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4907905" y="4481512"/>
            <a:ext cx="22164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7124402" y="4481512"/>
            <a:ext cx="23281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9452520" y="4481512"/>
            <a:ext cx="19774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6675" y="189650"/>
            <a:ext cx="678500" cy="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5. MEASURES &amp; COLLECTION</a:t>
            </a:r>
            <a:endParaRPr/>
          </a:p>
        </p:txBody>
      </p:sp>
      <p:sp>
        <p:nvSpPr>
          <p:cNvPr id="282" name="Google Shape;282;p24"/>
          <p:cNvSpPr/>
          <p:nvPr/>
        </p:nvSpPr>
        <p:spPr>
          <a:xfrm>
            <a:off x="762000" y="571500"/>
            <a:ext cx="95250" cy="571500"/>
          </a:xfrm>
          <a:prstGeom prst="rect">
            <a:avLst/>
          </a:prstGeom>
          <a:solidFill>
            <a:srgbClr val="84B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3" name="Google Shape;283;p24"/>
          <p:cNvGraphicFramePr/>
          <p:nvPr/>
        </p:nvGraphicFramePr>
        <p:xfrm>
          <a:off x="762000" y="244554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{2285C504-2328-4567-BA50-C2D87D200ADD}</a:tableStyleId>
              </a:tblPr>
              <a:tblGrid>
                <a:gridCol w="191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5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7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Measure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C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C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Operational Def.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C9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Freq.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C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[Name]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Outcome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Numerator / Denominator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[Weekly]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[Name]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Process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Numerator / Denominator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[Daily]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[Name]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Balancing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Numerator / Denominator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[Monthly]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4" name="Google Shape;284;p24"/>
          <p:cNvSpPr txBox="1"/>
          <p:nvPr/>
        </p:nvSpPr>
        <p:spPr>
          <a:xfrm>
            <a:off x="762000" y="4960143"/>
            <a:ext cx="10668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Balancing Measure: Ensure no unintended harm or extra burden is created.</a:t>
            </a:r>
            <a:endParaRPr/>
          </a:p>
        </p:txBody>
      </p:sp>
      <p:sp>
        <p:nvSpPr>
          <p:cNvPr id="285" name="Google Shape;285;p24"/>
          <p:cNvSpPr/>
          <p:nvPr/>
        </p:nvSpPr>
        <p:spPr>
          <a:xfrm>
            <a:off x="762000" y="3612356"/>
            <a:ext cx="19194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2681436" y="3612356"/>
            <a:ext cx="20553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4736752" y="3612356"/>
            <a:ext cx="46374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9374237" y="3612356"/>
            <a:ext cx="20557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762000" y="4207668"/>
            <a:ext cx="19194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2681436" y="4207668"/>
            <a:ext cx="20553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4736752" y="4207668"/>
            <a:ext cx="46374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9374237" y="4207668"/>
            <a:ext cx="20557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762000" y="4802981"/>
            <a:ext cx="19194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2681436" y="4802981"/>
            <a:ext cx="20553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4736752" y="4802981"/>
            <a:ext cx="463748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9374237" y="4802981"/>
            <a:ext cx="205576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" name="Google Shape;29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6675" y="189650"/>
            <a:ext cx="678500" cy="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86037"/>
            <a:ext cx="51435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86037"/>
            <a:ext cx="514350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5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DATA ABSTRACTION PLAN</a:t>
            </a:r>
            <a:endParaRPr/>
          </a:p>
        </p:txBody>
      </p:sp>
      <p:sp>
        <p:nvSpPr>
          <p:cNvPr id="306" name="Google Shape;306;p25"/>
          <p:cNvSpPr/>
          <p:nvPr/>
        </p:nvSpPr>
        <p:spPr>
          <a:xfrm>
            <a:off x="762000" y="571500"/>
            <a:ext cx="95250" cy="571500"/>
          </a:xfrm>
          <a:prstGeom prst="rect">
            <a:avLst/>
          </a:prstGeom>
          <a:solidFill>
            <a:srgbClr val="84B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 txBox="1"/>
          <p:nvPr/>
        </p:nvSpPr>
        <p:spPr>
          <a:xfrm>
            <a:off x="1047750" y="2928937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Sources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1047750" y="3386137"/>
            <a:ext cx="4572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Select one or more: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6572250" y="2928937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Abstraction Strategy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6572250" y="3386137"/>
            <a:ext cx="4572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Who collects? How are they trained? How is data validated?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6572250" y="4129087"/>
            <a:ext cx="45720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[Insert Detail]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1314450" y="3836193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1428750" y="3838575"/>
            <a:ext cx="41910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Epic Chart Review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1314450" y="4136231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1428750" y="4138612"/>
            <a:ext cx="41910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Registry / Surveys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1314450" y="4436268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1428750" y="4438650"/>
            <a:ext cx="41910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Other: [Specify]</a:t>
            </a:r>
            <a:endParaRPr/>
          </a:p>
        </p:txBody>
      </p:sp>
      <p:pic>
        <p:nvPicPr>
          <p:cNvPr id="318" name="Google Shape;31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56675" y="189650"/>
            <a:ext cx="678500" cy="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476375"/>
            <a:ext cx="10668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6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6. SECURITY &amp; HIPAA</a:t>
            </a:r>
            <a:endParaRPr/>
          </a:p>
        </p:txBody>
      </p:sp>
      <p:sp>
        <p:nvSpPr>
          <p:cNvPr id="326" name="Google Shape;326;p26"/>
          <p:cNvSpPr/>
          <p:nvPr/>
        </p:nvSpPr>
        <p:spPr>
          <a:xfrm>
            <a:off x="762000" y="571500"/>
            <a:ext cx="95250" cy="571500"/>
          </a:xfrm>
          <a:prstGeom prst="rect">
            <a:avLst/>
          </a:prstGeom>
          <a:solidFill>
            <a:srgbClr val="84B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6"/>
          <p:cNvSpPr txBox="1"/>
          <p:nvPr/>
        </p:nvSpPr>
        <p:spPr>
          <a:xfrm>
            <a:off x="1047750" y="2019300"/>
            <a:ext cx="100965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Storage:</a:t>
            </a: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HIPAA-compliant AdventHealth OneDrive/SharePoint.</a:t>
            </a:r>
            <a:endParaRPr/>
          </a:p>
        </p:txBody>
      </p:sp>
      <p:sp>
        <p:nvSpPr>
          <p:cNvPr id="328" name="Google Shape;328;p26"/>
          <p:cNvSpPr txBox="1"/>
          <p:nvPr/>
        </p:nvSpPr>
        <p:spPr>
          <a:xfrm>
            <a:off x="1047750" y="2519362"/>
            <a:ext cx="100965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Identifiers:</a:t>
            </a: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 MRN only; maintain separate restricted key if needed.</a:t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1047750" y="3019425"/>
            <a:ext cx="100965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Quality Assurance:</a:t>
            </a: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Monthly 10% spot-checks by PI/Mentor.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1047750" y="3519487"/>
            <a:ext cx="100965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Retention:</a:t>
            </a: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Records retained for 7 years per institutional policy.</a:t>
            </a:r>
            <a:endParaRPr/>
          </a:p>
        </p:txBody>
      </p:sp>
      <p:pic>
        <p:nvPicPr>
          <p:cNvPr id="331" name="Google Shape;331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56675" y="189650"/>
            <a:ext cx="678500" cy="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7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7. PROJECT TIMELINE</a:t>
            </a:r>
            <a:endParaRPr/>
          </a:p>
        </p:txBody>
      </p:sp>
      <p:sp>
        <p:nvSpPr>
          <p:cNvPr id="338" name="Google Shape;338;p27"/>
          <p:cNvSpPr/>
          <p:nvPr/>
        </p:nvSpPr>
        <p:spPr>
          <a:xfrm>
            <a:off x="762000" y="571500"/>
            <a:ext cx="95250" cy="571500"/>
          </a:xfrm>
          <a:prstGeom prst="rect">
            <a:avLst/>
          </a:prstGeom>
          <a:solidFill>
            <a:srgbClr val="84B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7"/>
          <p:cNvSpPr txBox="1"/>
          <p:nvPr/>
        </p:nvSpPr>
        <p:spPr>
          <a:xfrm>
            <a:off x="762000" y="4886325"/>
            <a:ext cx="10668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Team Meetings: Specify frequency (e.g., Every 2 weeks).</a:t>
            </a:r>
            <a:endParaRPr/>
          </a:p>
        </p:txBody>
      </p:sp>
      <p:sp>
        <p:nvSpPr>
          <p:cNvPr id="340" name="Google Shape;340;p27"/>
          <p:cNvSpPr/>
          <p:nvPr/>
        </p:nvSpPr>
        <p:spPr>
          <a:xfrm>
            <a:off x="762000" y="2995612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7"/>
          <p:cNvSpPr/>
          <p:nvPr/>
        </p:nvSpPr>
        <p:spPr>
          <a:xfrm>
            <a:off x="1744860" y="280511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4C97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7"/>
          <p:cNvSpPr txBox="1"/>
          <p:nvPr/>
        </p:nvSpPr>
        <p:spPr>
          <a:xfrm>
            <a:off x="703328" y="3376612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Month 1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762000" y="3814762"/>
            <a:ext cx="234687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Retrospective Review</a:t>
            </a:r>
            <a:endParaRPr/>
          </a:p>
        </p:txBody>
      </p:sp>
      <p:sp>
        <p:nvSpPr>
          <p:cNvPr id="344" name="Google Shape;344;p27"/>
          <p:cNvSpPr/>
          <p:nvPr/>
        </p:nvSpPr>
        <p:spPr>
          <a:xfrm>
            <a:off x="4518570" y="280511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4C97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7"/>
          <p:cNvSpPr txBox="1"/>
          <p:nvPr/>
        </p:nvSpPr>
        <p:spPr>
          <a:xfrm>
            <a:off x="3477037" y="3376612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Month 2-3</a:t>
            </a:r>
            <a:endParaRPr/>
          </a:p>
        </p:txBody>
      </p:sp>
      <p:sp>
        <p:nvSpPr>
          <p:cNvPr id="346" name="Google Shape;346;p27"/>
          <p:cNvSpPr txBox="1"/>
          <p:nvPr/>
        </p:nvSpPr>
        <p:spPr>
          <a:xfrm>
            <a:off x="3535709" y="3814762"/>
            <a:ext cx="234687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Implementation</a:t>
            </a:r>
            <a:endParaRPr/>
          </a:p>
        </p:txBody>
      </p:sp>
      <p:sp>
        <p:nvSpPr>
          <p:cNvPr id="347" name="Google Shape;347;p27"/>
          <p:cNvSpPr/>
          <p:nvPr/>
        </p:nvSpPr>
        <p:spPr>
          <a:xfrm>
            <a:off x="7292280" y="280511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4C97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7"/>
          <p:cNvSpPr txBox="1"/>
          <p:nvPr/>
        </p:nvSpPr>
        <p:spPr>
          <a:xfrm>
            <a:off x="6250747" y="3376612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Month 4-5</a:t>
            </a:r>
            <a:endParaRPr/>
          </a:p>
        </p:txBody>
      </p:sp>
      <p:sp>
        <p:nvSpPr>
          <p:cNvPr id="349" name="Google Shape;349;p27"/>
          <p:cNvSpPr txBox="1"/>
          <p:nvPr/>
        </p:nvSpPr>
        <p:spPr>
          <a:xfrm>
            <a:off x="6309419" y="3814762"/>
            <a:ext cx="234687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Analysis</a:t>
            </a:r>
            <a:endParaRPr/>
          </a:p>
        </p:txBody>
      </p:sp>
      <p:sp>
        <p:nvSpPr>
          <p:cNvPr id="350" name="Google Shape;350;p27"/>
          <p:cNvSpPr/>
          <p:nvPr/>
        </p:nvSpPr>
        <p:spPr>
          <a:xfrm>
            <a:off x="10065990" y="2805112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4C97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7"/>
          <p:cNvSpPr txBox="1"/>
          <p:nvPr/>
        </p:nvSpPr>
        <p:spPr>
          <a:xfrm>
            <a:off x="9024457" y="3376612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Month 6</a:t>
            </a:r>
            <a:endParaRPr/>
          </a:p>
        </p:txBody>
      </p:sp>
      <p:sp>
        <p:nvSpPr>
          <p:cNvPr id="352" name="Google Shape;352;p27"/>
          <p:cNvSpPr txBox="1"/>
          <p:nvPr/>
        </p:nvSpPr>
        <p:spPr>
          <a:xfrm>
            <a:off x="9083129" y="3814762"/>
            <a:ext cx="234687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Presentation</a:t>
            </a:r>
            <a:endParaRPr/>
          </a:p>
        </p:txBody>
      </p:sp>
      <p:pic>
        <p:nvPicPr>
          <p:cNvPr id="353" name="Google Shape;35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6675" y="189650"/>
            <a:ext cx="678500" cy="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717006"/>
            <a:ext cx="5143500" cy="2328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717006"/>
            <a:ext cx="5143500" cy="232886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8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8. ANALYSIS STRATEGY</a:t>
            </a:r>
            <a:endParaRPr/>
          </a:p>
        </p:txBody>
      </p:sp>
      <p:sp>
        <p:nvSpPr>
          <p:cNvPr id="362" name="Google Shape;362;p28"/>
          <p:cNvSpPr/>
          <p:nvPr/>
        </p:nvSpPr>
        <p:spPr>
          <a:xfrm>
            <a:off x="762000" y="571500"/>
            <a:ext cx="95250" cy="571500"/>
          </a:xfrm>
          <a:prstGeom prst="rect">
            <a:avLst/>
          </a:prstGeom>
          <a:solidFill>
            <a:srgbClr val="84B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8"/>
          <p:cNvSpPr txBox="1"/>
          <p:nvPr/>
        </p:nvSpPr>
        <p:spPr>
          <a:xfrm>
            <a:off x="1047750" y="3059906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Statistical Methods</a:t>
            </a:r>
            <a:endParaRPr/>
          </a:p>
        </p:txBody>
      </p:sp>
      <p:sp>
        <p:nvSpPr>
          <p:cNvPr id="364" name="Google Shape;364;p28"/>
          <p:cNvSpPr txBox="1"/>
          <p:nvPr/>
        </p:nvSpPr>
        <p:spPr>
          <a:xfrm>
            <a:off x="1047750" y="3517106"/>
            <a:ext cx="4572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Counts, percentages, comparative analysis (Pre vs Post).</a:t>
            </a:r>
            <a:endParaRPr/>
          </a:p>
        </p:txBody>
      </p:sp>
      <p:sp>
        <p:nvSpPr>
          <p:cNvPr id="365" name="Google Shape;365;p28"/>
          <p:cNvSpPr txBox="1"/>
          <p:nvPr/>
        </p:nvSpPr>
        <p:spPr>
          <a:xfrm>
            <a:off x="1047750" y="3988593"/>
            <a:ext cx="45720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Software:</a:t>
            </a: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[Excel / Epic / R]</a:t>
            </a:r>
            <a:endParaRPr/>
          </a:p>
        </p:txBody>
      </p:sp>
      <p:sp>
        <p:nvSpPr>
          <p:cNvPr id="366" name="Google Shape;366;p28"/>
          <p:cNvSpPr txBox="1"/>
          <p:nvPr/>
        </p:nvSpPr>
        <p:spPr>
          <a:xfrm>
            <a:off x="6572250" y="3059906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Visualizations</a:t>
            </a:r>
            <a:endParaRPr/>
          </a:p>
        </p:txBody>
      </p:sp>
      <p:sp>
        <p:nvSpPr>
          <p:cNvPr id="367" name="Google Shape;367;p28"/>
          <p:cNvSpPr txBox="1"/>
          <p:nvPr/>
        </p:nvSpPr>
        <p:spPr>
          <a:xfrm>
            <a:off x="6572250" y="3517106"/>
            <a:ext cx="45720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Describe the use of Run Charts or Control Charts to track change over time.</a:t>
            </a:r>
            <a:endParaRPr/>
          </a:p>
        </p:txBody>
      </p:sp>
      <p:sp>
        <p:nvSpPr>
          <p:cNvPr id="368" name="Google Shape;368;p28"/>
          <p:cNvSpPr txBox="1"/>
          <p:nvPr/>
        </p:nvSpPr>
        <p:spPr>
          <a:xfrm>
            <a:off x="6572250" y="4260056"/>
            <a:ext cx="45720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[Insert Detail]</a:t>
            </a:r>
            <a:endParaRPr/>
          </a:p>
        </p:txBody>
      </p:sp>
      <p:pic>
        <p:nvPicPr>
          <p:cNvPr id="369" name="Google Shape;369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56675" y="189650"/>
            <a:ext cx="678500" cy="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476375"/>
            <a:ext cx="10668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9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9. RESULTS REPORTING</a:t>
            </a:r>
            <a:endParaRPr/>
          </a:p>
        </p:txBody>
      </p:sp>
      <p:sp>
        <p:nvSpPr>
          <p:cNvPr id="377" name="Google Shape;377;p29"/>
          <p:cNvSpPr/>
          <p:nvPr/>
        </p:nvSpPr>
        <p:spPr>
          <a:xfrm>
            <a:off x="762000" y="571500"/>
            <a:ext cx="95250" cy="571500"/>
          </a:xfrm>
          <a:prstGeom prst="rect">
            <a:avLst/>
          </a:prstGeom>
          <a:solidFill>
            <a:srgbClr val="84B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9"/>
          <p:cNvSpPr txBox="1"/>
          <p:nvPr/>
        </p:nvSpPr>
        <p:spPr>
          <a:xfrm>
            <a:off x="1047750" y="1819275"/>
            <a:ext cx="106013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Dissemination Plan</a:t>
            </a:r>
            <a:endParaRPr/>
          </a:p>
        </p:txBody>
      </p:sp>
      <p:sp>
        <p:nvSpPr>
          <p:cNvPr id="379" name="Google Shape;379;p29"/>
          <p:cNvSpPr txBox="1"/>
          <p:nvPr/>
        </p:nvSpPr>
        <p:spPr>
          <a:xfrm>
            <a:off x="1047750" y="2276475"/>
            <a:ext cx="100965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How will results be documented and shared internally? Who has restricted access?</a:t>
            </a:r>
            <a:endParaRPr/>
          </a:p>
        </p:txBody>
      </p:sp>
      <p:sp>
        <p:nvSpPr>
          <p:cNvPr id="380" name="Google Shape;380;p29"/>
          <p:cNvSpPr txBox="1"/>
          <p:nvPr/>
        </p:nvSpPr>
        <p:spPr>
          <a:xfrm>
            <a:off x="1047750" y="2747962"/>
            <a:ext cx="100965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[Insert Brief Narrative Here]</a:t>
            </a:r>
            <a:endParaRPr/>
          </a:p>
        </p:txBody>
      </p:sp>
      <p:pic>
        <p:nvPicPr>
          <p:cNvPr id="381" name="Google Shape;381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56675" y="189650"/>
            <a:ext cx="678500" cy="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852737"/>
            <a:ext cx="51435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0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10. DISCUSSION &amp; FUTURE</a:t>
            </a:r>
            <a:endParaRPr/>
          </a:p>
        </p:txBody>
      </p:sp>
      <p:sp>
        <p:nvSpPr>
          <p:cNvPr id="389" name="Google Shape;389;p30"/>
          <p:cNvSpPr/>
          <p:nvPr/>
        </p:nvSpPr>
        <p:spPr>
          <a:xfrm>
            <a:off x="762000" y="571500"/>
            <a:ext cx="95250" cy="571500"/>
          </a:xfrm>
          <a:prstGeom prst="rect">
            <a:avLst/>
          </a:prstGeom>
          <a:solidFill>
            <a:srgbClr val="84B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0"/>
          <p:cNvSpPr txBox="1"/>
          <p:nvPr/>
        </p:nvSpPr>
        <p:spPr>
          <a:xfrm>
            <a:off x="762000" y="2852737"/>
            <a:ext cx="5400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Interpretation</a:t>
            </a:r>
            <a:endParaRPr/>
          </a:p>
        </p:txBody>
      </p:sp>
      <p:sp>
        <p:nvSpPr>
          <p:cNvPr id="391" name="Google Shape;391;p30"/>
          <p:cNvSpPr txBox="1"/>
          <p:nvPr/>
        </p:nvSpPr>
        <p:spPr>
          <a:xfrm>
            <a:off x="762000" y="3309937"/>
            <a:ext cx="51435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Practice-changing implications and limitations.</a:t>
            </a:r>
            <a:endParaRPr/>
          </a:p>
        </p:txBody>
      </p:sp>
      <p:sp>
        <p:nvSpPr>
          <p:cNvPr id="392" name="Google Shape;392;p30"/>
          <p:cNvSpPr txBox="1"/>
          <p:nvPr/>
        </p:nvSpPr>
        <p:spPr>
          <a:xfrm>
            <a:off x="762000" y="3781425"/>
            <a:ext cx="51435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[Insert Analysis]</a:t>
            </a:r>
            <a:endParaRPr/>
          </a:p>
        </p:txBody>
      </p:sp>
      <p:sp>
        <p:nvSpPr>
          <p:cNvPr id="393" name="Google Shape;393;p30"/>
          <p:cNvSpPr txBox="1"/>
          <p:nvPr/>
        </p:nvSpPr>
        <p:spPr>
          <a:xfrm>
            <a:off x="6572250" y="3195637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Sustainability</a:t>
            </a:r>
            <a:endParaRPr/>
          </a:p>
        </p:txBody>
      </p:sp>
      <p:sp>
        <p:nvSpPr>
          <p:cNvPr id="394" name="Google Shape;394;p30"/>
          <p:cNvSpPr txBox="1"/>
          <p:nvPr/>
        </p:nvSpPr>
        <p:spPr>
          <a:xfrm>
            <a:off x="6572250" y="3652837"/>
            <a:ext cx="4572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Handoffs, ownership, or EMR tool permanence.</a:t>
            </a:r>
            <a:endParaRPr/>
          </a:p>
        </p:txBody>
      </p:sp>
      <p:sp>
        <p:nvSpPr>
          <p:cNvPr id="395" name="Google Shape;395;p30"/>
          <p:cNvSpPr txBox="1"/>
          <p:nvPr/>
        </p:nvSpPr>
        <p:spPr>
          <a:xfrm>
            <a:off x="6572250" y="4124325"/>
            <a:ext cx="45720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[Insert Sustainability Plan]</a:t>
            </a:r>
            <a:endParaRPr/>
          </a:p>
        </p:txBody>
      </p:sp>
      <p:pic>
        <p:nvPicPr>
          <p:cNvPr id="396" name="Google Shape;396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56675" y="189650"/>
            <a:ext cx="678500" cy="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828925"/>
            <a:ext cx="51435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828925"/>
            <a:ext cx="514350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1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11 &amp; 12. ETHICS &amp; RESOURCES</a:t>
            </a:r>
            <a:endParaRPr/>
          </a:p>
        </p:txBody>
      </p:sp>
      <p:sp>
        <p:nvSpPr>
          <p:cNvPr id="405" name="Google Shape;405;p31"/>
          <p:cNvSpPr/>
          <p:nvPr/>
        </p:nvSpPr>
        <p:spPr>
          <a:xfrm>
            <a:off x="762000" y="571500"/>
            <a:ext cx="95250" cy="571500"/>
          </a:xfrm>
          <a:prstGeom prst="rect">
            <a:avLst/>
          </a:prstGeom>
          <a:solidFill>
            <a:srgbClr val="84B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1"/>
          <p:cNvSpPr txBox="1"/>
          <p:nvPr/>
        </p:nvSpPr>
        <p:spPr>
          <a:xfrm>
            <a:off x="1047750" y="3171825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Ethical Considerations</a:t>
            </a:r>
            <a:endParaRPr/>
          </a:p>
        </p:txBody>
      </p:sp>
      <p:sp>
        <p:nvSpPr>
          <p:cNvPr id="407" name="Google Shape;407;p31"/>
          <p:cNvSpPr txBox="1"/>
          <p:nvPr/>
        </p:nvSpPr>
        <p:spPr>
          <a:xfrm>
            <a:off x="1047750" y="3629025"/>
            <a:ext cx="45720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1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Describe privacy protections and risk assessment.</a:t>
            </a:r>
            <a:endParaRPr/>
          </a:p>
        </p:txBody>
      </p:sp>
      <p:sp>
        <p:nvSpPr>
          <p:cNvPr id="408" name="Google Shape;408;p31"/>
          <p:cNvSpPr txBox="1"/>
          <p:nvPr/>
        </p:nvSpPr>
        <p:spPr>
          <a:xfrm>
            <a:off x="1047750" y="4100512"/>
            <a:ext cx="45720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[Insert Details]</a:t>
            </a:r>
            <a:endParaRPr/>
          </a:p>
        </p:txBody>
      </p:sp>
      <p:sp>
        <p:nvSpPr>
          <p:cNvPr id="409" name="Google Shape;409;p31"/>
          <p:cNvSpPr txBox="1"/>
          <p:nvPr/>
        </p:nvSpPr>
        <p:spPr>
          <a:xfrm>
            <a:off x="6572250" y="3171825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Resources Needed</a:t>
            </a:r>
            <a:endParaRPr/>
          </a:p>
        </p:txBody>
      </p:sp>
      <p:sp>
        <p:nvSpPr>
          <p:cNvPr id="410" name="Google Shape;410;p31"/>
          <p:cNvSpPr txBox="1"/>
          <p:nvPr/>
        </p:nvSpPr>
        <p:spPr>
          <a:xfrm>
            <a:off x="6572250" y="3648075"/>
            <a:ext cx="45720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Funding:</a:t>
            </a: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[Source]</a:t>
            </a:r>
            <a:endParaRPr/>
          </a:p>
        </p:txBody>
      </p:sp>
      <p:sp>
        <p:nvSpPr>
          <p:cNvPr id="411" name="Google Shape;411;p31"/>
          <p:cNvSpPr txBox="1"/>
          <p:nvPr/>
        </p:nvSpPr>
        <p:spPr>
          <a:xfrm>
            <a:off x="6572250" y="4148137"/>
            <a:ext cx="45720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Materials:</a:t>
            </a: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[Tools/Software]</a:t>
            </a:r>
            <a:endParaRPr/>
          </a:p>
        </p:txBody>
      </p:sp>
      <p:pic>
        <p:nvPicPr>
          <p:cNvPr id="412" name="Google Shape;412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56675" y="189650"/>
            <a:ext cx="678500" cy="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2"/>
          <p:cNvSpPr txBox="1"/>
          <p:nvPr/>
        </p:nvSpPr>
        <p:spPr>
          <a:xfrm>
            <a:off x="952500" y="571500"/>
            <a:ext cx="11001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14. REFERENCES &amp; Q&amp;A</a:t>
            </a:r>
            <a:endParaRPr/>
          </a:p>
        </p:txBody>
      </p:sp>
      <p:sp>
        <p:nvSpPr>
          <p:cNvPr id="419" name="Google Shape;419;p32"/>
          <p:cNvSpPr/>
          <p:nvPr/>
        </p:nvSpPr>
        <p:spPr>
          <a:xfrm>
            <a:off x="762000" y="571500"/>
            <a:ext cx="95250" cy="571500"/>
          </a:xfrm>
          <a:prstGeom prst="rect">
            <a:avLst/>
          </a:prstGeom>
          <a:solidFill>
            <a:srgbClr val="84BD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2"/>
          <p:cNvSpPr txBox="1"/>
          <p:nvPr/>
        </p:nvSpPr>
        <p:spPr>
          <a:xfrm>
            <a:off x="762000" y="1888331"/>
            <a:ext cx="11201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Key References (Min 3)</a:t>
            </a:r>
            <a:endParaRPr/>
          </a:p>
        </p:txBody>
      </p:sp>
      <p:sp>
        <p:nvSpPr>
          <p:cNvPr id="421" name="Google Shape;421;p32"/>
          <p:cNvSpPr txBox="1"/>
          <p:nvPr/>
        </p:nvSpPr>
        <p:spPr>
          <a:xfrm>
            <a:off x="762000" y="2297906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[Journal Name / Author / Date]</a:t>
            </a:r>
            <a:endParaRPr/>
          </a:p>
        </p:txBody>
      </p:sp>
      <p:sp>
        <p:nvSpPr>
          <p:cNvPr id="422" name="Google Shape;422;p32"/>
          <p:cNvSpPr txBox="1"/>
          <p:nvPr/>
        </p:nvSpPr>
        <p:spPr>
          <a:xfrm>
            <a:off x="762000" y="2831306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[Journal Name / Author / Date]</a:t>
            </a:r>
            <a:endParaRPr/>
          </a:p>
        </p:txBody>
      </p:sp>
      <p:sp>
        <p:nvSpPr>
          <p:cNvPr id="423" name="Google Shape;423;p32"/>
          <p:cNvSpPr txBox="1"/>
          <p:nvPr/>
        </p:nvSpPr>
        <p:spPr>
          <a:xfrm>
            <a:off x="762000" y="3364706"/>
            <a:ext cx="10668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 [Journal Name / Author / Date]</a:t>
            </a:r>
            <a:endParaRPr/>
          </a:p>
        </p:txBody>
      </p:sp>
      <p:sp>
        <p:nvSpPr>
          <p:cNvPr id="424" name="Google Shape;424;p32"/>
          <p:cNvSpPr txBox="1"/>
          <p:nvPr/>
        </p:nvSpPr>
        <p:spPr>
          <a:xfrm>
            <a:off x="495300" y="4317206"/>
            <a:ext cx="112014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04C97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425" name="Google Shape;425;p32"/>
          <p:cNvSpPr txBox="1"/>
          <p:nvPr/>
        </p:nvSpPr>
        <p:spPr>
          <a:xfrm>
            <a:off x="762000" y="5374481"/>
            <a:ext cx="10668000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Contact: [Investigator Email]</a:t>
            </a:r>
            <a:endParaRPr/>
          </a:p>
        </p:txBody>
      </p:sp>
      <p:pic>
        <p:nvPicPr>
          <p:cNvPr id="426" name="Google Shape;426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56675" y="189650"/>
            <a:ext cx="678500" cy="67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</Words>
  <Application>Microsoft Macintosh PowerPoint</Application>
  <PresentationFormat>Widescreen</PresentationFormat>
  <Paragraphs>180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Poppins</vt:lpstr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Alhayek MD, Bakr</cp:lastModifiedBy>
  <cp:revision>1</cp:revision>
  <dcterms:modified xsi:type="dcterms:W3CDTF">2026-02-02T10:23:32Z</dcterms:modified>
</cp:coreProperties>
</file>